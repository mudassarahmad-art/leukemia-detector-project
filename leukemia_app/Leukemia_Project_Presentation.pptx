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3840480"/>
            <a:ext cx="1097280" cy="10972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4297680"/>
            <a:ext cx="640080" cy="64008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502920"/>
            <a:ext cx="2926080" cy="347472"/>
          </a:xfrm>
          <a:prstGeom prst="roundRect">
            <a:avLst>
              <a:gd name="adj" fmla="val 39474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AI · MACHINE LEARNING · HEALTHCARE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Leukemia Risk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Web Application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Clinical Blood Parameter Analysis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114800"/>
            <a:ext cx="7772400" cy="91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Flask  ·  SMOTE  ·  StandardScaler  ·  scikit-learn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137160" cy="82296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2286000"/>
            <a:ext cx="685800" cy="13716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0149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Leukemia?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3807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background &amp; clinical context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206240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20208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3865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blood parameters used for prediction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718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30266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3924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distributions, correlations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4206240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776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78992" y="403250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3982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 &amp; StandardScaler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9601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960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59552" y="10149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9552" y="13807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deep dive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1965960"/>
            <a:ext cx="4206240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96596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59552" y="20208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59552" y="23865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accuracy, F1-score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971800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97180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29718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59552" y="30266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59552" y="33924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 &amp; routing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3977640"/>
            <a:ext cx="4206240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97764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9776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559552" y="403250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59552" y="43982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system walkthrough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What is Leukemia?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Leukemia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cancer of blood-forming tissues, primarily the bone marrow. It causes the body to produce abnormal white blood cells (WBCs) that cannot fight infection normally and crowd out healthy cells.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51760" cy="26060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2128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Marrow Origin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18688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cells are made in bone marrow. In leukemia, production goes wrong, flooding the bloodstream with immature or abnormal WBCs.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651760" cy="26060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2128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Count Markers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218688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WBC, low RBC, low platelets and hemoglobin are classic early warning signs that can be detected through a CBC test.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651760" cy="26060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2128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Impact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218688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dramatically improves survival. ML models trained on blood parameters can flag at-risk patients for timely clinical review.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Dataset &amp;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12801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biased_leukemia_dataset.csv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Column: </a:t>
            </a:r>
            <a:pPr indent="0" marL="0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Leukemia_Status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</a:t>
            </a:r>
            <a:pPr indent="0" marL="0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INPUT 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39319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288036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788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64208" y="2788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61488" y="27889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patient risk factor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3931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325526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16382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Count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64208" y="31638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cells/µL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61488" y="316382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very high in leukemia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538728"/>
            <a:ext cx="39319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63016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38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Count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64208" y="35387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million/µL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61488" y="35387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 leukemia patients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913632"/>
            <a:ext cx="3931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00507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136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Count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64208" y="39136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K/µL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61488" y="39136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low (thrombocytopenia)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288536"/>
            <a:ext cx="39319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437997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8853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664208" y="42885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61488" y="42885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anemia signal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3931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" y="47548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663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4663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kg/m²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61488" y="4663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health context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PROBLEM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80760" y="1691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2039112"/>
            <a:ext cx="3291840" cy="3474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4846320" y="2039112"/>
            <a:ext cx="27980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017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80760" y="3017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364992"/>
            <a:ext cx="3291840" cy="3474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5"/>
          <p:cNvSpPr/>
          <p:nvPr/>
        </p:nvSpPr>
        <p:spPr>
          <a:xfrm>
            <a:off x="4846320" y="3364992"/>
            <a:ext cx="493776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Shape 46"/>
          <p:cNvSpPr/>
          <p:nvPr/>
        </p:nvSpPr>
        <p:spPr>
          <a:xfrm>
            <a:off x="4709160" y="4160520"/>
            <a:ext cx="3977640" cy="594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418795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Severe imbalance — fixed using SMOTE oversampling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Exploratory Data Analysis (EDA)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3931920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4231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2468880"/>
            <a:ext cx="24780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countplot revealed severe class imbalance: ~85% Negative vs ~15% Positive. The model would be biased without correction.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97480" cy="393192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972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4231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per Feature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468880"/>
            <a:ext cx="24780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Feature-by-status box plots showed WBC and Hemoglobin as having the most distinct separation between Positive and Negative cases.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393192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0972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2423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36208" y="2468880"/>
            <a:ext cx="24780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the 6 features + target revealed WBC_Count has the highest correlation with Leukemia_Status (positive correlation).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846320"/>
            <a:ext cx="8412480" cy="91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Data Preprocessing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150876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234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377440"/>
            <a:ext cx="1362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CSV, clean WBC negatives with .abs()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2606040"/>
            <a:ext cx="109728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1097280"/>
            <a:ext cx="150876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23444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1874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30552" y="2377440"/>
            <a:ext cx="1362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training, 20% testing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 preserves class ratio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2606040"/>
            <a:ext cx="109728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1097280"/>
            <a:ext cx="150876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2344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1874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22192" y="2377440"/>
            <a:ext cx="1362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Positive vs Negative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57800" y="2606040"/>
            <a:ext cx="109728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40680" y="1097280"/>
            <a:ext cx="150876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12344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1874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13832" y="2377440"/>
            <a:ext cx="1362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training only → transform both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2606040"/>
            <a:ext cx="109728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0" y="1097280"/>
            <a:ext cx="150876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35240" y="1234440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1874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05472" y="2377440"/>
            <a:ext cx="1362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RandomForestClassifier(n_estimators=100)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balanced, scaled data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42B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599432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SMOTE Key Insight: It creates NEW synthetic samples by interpolating between existing minority class examples — NOT just duplicating them.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04a  |  SMOTE — How It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SMOTE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(Majority)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54680" y="1600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92808"/>
            <a:ext cx="32004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892808"/>
            <a:ext cx="27203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(Minority)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2468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32004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761488"/>
            <a:ext cx="48006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4564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85:15 ratio — model learns to predict NEGATIVE always!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356616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59352"/>
            <a:ext cx="3383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~85%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F1 for Positive ≈ 0.00 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078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(Majority)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43800" y="1600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892808"/>
            <a:ext cx="347472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1892808"/>
            <a:ext cx="34747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(Synthetic)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2468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761488"/>
            <a:ext cx="347472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2761488"/>
            <a:ext cx="34747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4564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Perfectly balanced 1:1 ratio — model can learn BOTH classes!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931920"/>
            <a:ext cx="365760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959352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stays high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for Positive: much improved ✅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04b  |  StandardScaler — Why We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87552"/>
            <a:ext cx="8138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 z = (x − μ) / σ     where μ = mean,  σ = standard deviation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92608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9260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288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28600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828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Scaling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828800"/>
            <a:ext cx="25603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828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Scaling (z)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79552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128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22128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0" y="22128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79552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603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Count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25603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95,000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60720" y="2560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907792"/>
            <a:ext cx="79552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077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Count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29077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0" y="29077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255264"/>
            <a:ext cx="79552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5526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Count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325526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85,000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60720" y="325526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-1.95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602736"/>
            <a:ext cx="79552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0273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83280" y="36027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760720" y="36027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950208"/>
            <a:ext cx="79552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9502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83280" y="39502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60720" y="39502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370832"/>
            <a:ext cx="8138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Rule: scaler.fit_transform() on TRAINING data only → scaler.transform() on TEST data.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Fitting on test data = data leakage = inflated accuracy scores!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Random Forest Classifier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 that vote on the final prediction.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45336" y="2103120"/>
            <a:ext cx="18288" cy="228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2331720"/>
            <a:ext cx="731520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331720"/>
            <a:ext cx="1828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2331720"/>
            <a:ext cx="1828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2551176"/>
            <a:ext cx="41148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551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45920" y="2551176"/>
            <a:ext cx="41148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2551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0" y="160020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31336" y="2103120"/>
            <a:ext cx="18288" cy="228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331720"/>
            <a:ext cx="731520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2331720"/>
            <a:ext cx="1828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4206240" y="2331720"/>
            <a:ext cx="1828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3337560" y="2551176"/>
            <a:ext cx="41148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2551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931920" y="2551176"/>
            <a:ext cx="41148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2551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486400" y="160020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17336" y="2103120"/>
            <a:ext cx="18288" cy="228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5760720" y="2331720"/>
            <a:ext cx="731520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2331720"/>
            <a:ext cx="1828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2331720"/>
            <a:ext cx="1828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Shape 30"/>
          <p:cNvSpPr/>
          <p:nvPr/>
        </p:nvSpPr>
        <p:spPr>
          <a:xfrm>
            <a:off x="5623560" y="2551176"/>
            <a:ext cx="41148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623560" y="2551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217920" y="2551176"/>
            <a:ext cx="41148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551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589520" y="160020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20456" y="2103120"/>
            <a:ext cx="18288" cy="228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Shape 37"/>
          <p:cNvSpPr/>
          <p:nvPr/>
        </p:nvSpPr>
        <p:spPr>
          <a:xfrm>
            <a:off x="7863840" y="2331720"/>
            <a:ext cx="731520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Shape 38"/>
          <p:cNvSpPr/>
          <p:nvPr/>
        </p:nvSpPr>
        <p:spPr>
          <a:xfrm>
            <a:off x="7863840" y="2331720"/>
            <a:ext cx="1828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1" name="Shape 39"/>
          <p:cNvSpPr/>
          <p:nvPr/>
        </p:nvSpPr>
        <p:spPr>
          <a:xfrm>
            <a:off x="8595360" y="2331720"/>
            <a:ext cx="1828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Shape 40"/>
          <p:cNvSpPr/>
          <p:nvPr/>
        </p:nvSpPr>
        <p:spPr>
          <a:xfrm>
            <a:off x="7726680" y="2551176"/>
            <a:ext cx="41148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7726680" y="2551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321040" y="2551176"/>
            <a:ext cx="41148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8321040" y="2551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00400" y="3063240"/>
            <a:ext cx="27432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→ Final Prediction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3703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069080"/>
            <a:ext cx="201168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411480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38912" y="4370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8912" y="437083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trees in forest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14600" y="4069080"/>
            <a:ext cx="201168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87752" y="411480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587752" y="4370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587752" y="437083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seed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63440" y="4069080"/>
            <a:ext cx="201168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411480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736592" y="4370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auto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736592" y="437083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split (default √n)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812280" y="4069080"/>
            <a:ext cx="201168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85432" y="411480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885432" y="4370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gini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885432" y="437083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quality measure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Model 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627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420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6596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51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22128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5420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were correct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196596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051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1627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22128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5420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we caught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960120"/>
            <a:ext cx="196596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051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66560" y="1627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66560" y="22128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5420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3090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456432"/>
            <a:ext cx="1389888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564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456432"/>
            <a:ext cx="1389888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34564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NEG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3456432"/>
            <a:ext cx="1389888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34564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POS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913632"/>
            <a:ext cx="1389888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9136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NEG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3913632"/>
            <a:ext cx="1389888" cy="43891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39136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= 1620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54680" y="3913632"/>
            <a:ext cx="1389888" cy="43891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39136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95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370832"/>
            <a:ext cx="1389888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3708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POS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4370832"/>
            <a:ext cx="1389888" cy="43891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43708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112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54680" y="4370832"/>
            <a:ext cx="1389888" cy="43891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437083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1573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3090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(RandomForest)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3474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Count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3511296"/>
            <a:ext cx="25603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Shape 44"/>
          <p:cNvSpPr/>
          <p:nvPr/>
        </p:nvSpPr>
        <p:spPr>
          <a:xfrm>
            <a:off x="6263640" y="3511296"/>
            <a:ext cx="972922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8851392" y="347472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37490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Count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3785616"/>
            <a:ext cx="25603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Shape 48"/>
          <p:cNvSpPr/>
          <p:nvPr/>
        </p:nvSpPr>
        <p:spPr>
          <a:xfrm>
            <a:off x="6263640" y="3785616"/>
            <a:ext cx="56327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8851392" y="37490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63440" y="4023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63640" y="4059936"/>
            <a:ext cx="25603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52"/>
          <p:cNvSpPr/>
          <p:nvPr/>
        </p:nvSpPr>
        <p:spPr>
          <a:xfrm>
            <a:off x="6263640" y="4059936"/>
            <a:ext cx="460858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8851392" y="402336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663440" y="42976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Count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63640" y="4334256"/>
            <a:ext cx="25603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Shape 56"/>
          <p:cNvSpPr/>
          <p:nvPr/>
        </p:nvSpPr>
        <p:spPr>
          <a:xfrm>
            <a:off x="6263640" y="4334256"/>
            <a:ext cx="307238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9" name="Text 57"/>
          <p:cNvSpPr/>
          <p:nvPr/>
        </p:nvSpPr>
        <p:spPr>
          <a:xfrm>
            <a:off x="8851392" y="42976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63440" y="4572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4608576"/>
            <a:ext cx="25603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60"/>
          <p:cNvSpPr/>
          <p:nvPr/>
        </p:nvSpPr>
        <p:spPr>
          <a:xfrm>
            <a:off x="6263640" y="4608576"/>
            <a:ext cx="153619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3" name="Text 61"/>
          <p:cNvSpPr/>
          <p:nvPr/>
        </p:nvSpPr>
        <p:spPr>
          <a:xfrm>
            <a:off x="8851392" y="45720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663440" y="48463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63640" y="4882896"/>
            <a:ext cx="25603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Shape 64"/>
          <p:cNvSpPr/>
          <p:nvPr/>
        </p:nvSpPr>
        <p:spPr>
          <a:xfrm>
            <a:off x="6263640" y="4882896"/>
            <a:ext cx="102413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7" name="Text 65"/>
          <p:cNvSpPr/>
          <p:nvPr/>
        </p:nvSpPr>
        <p:spPr>
          <a:xfrm>
            <a:off x="8851392" y="484632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Flask Web Application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08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5910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9476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83080" y="141732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508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0972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39112" y="15910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39112" y="19476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 POST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02152" y="141732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12464" y="1005840"/>
            <a:ext cx="1508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10972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58184" y="15910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58184" y="19476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 + scaler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21224" y="141732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31536" y="1005840"/>
            <a:ext cx="1508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31536" y="10972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77256" y="15910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77256" y="19476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40296" y="141732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50608" y="1005840"/>
            <a:ext cx="1508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50608" y="10972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96328" y="15910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96328" y="19476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render_template()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606040"/>
            <a:ext cx="8595360" cy="24231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2697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app.py — predict route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01752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('/predict', methods=['POST'])</a:t>
            </a:r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 = [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(request.form['age']), ...]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scaled = scaler.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(np.array([features]))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model.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(scaled)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render_template('index.html', prediction_text=result)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07a  |  Project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leukemia_app/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0" y="14630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backend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leukemia_model.pkl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0" y="184708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 RF 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2311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scaler.pkl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22311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Fitted StandardScaler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A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261518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static/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3383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A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style.css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0" y="33832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Noir-gold theme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templates/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41513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A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index.html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0" y="415137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form + result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02336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078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PREDICTION WORKS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160934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09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1536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form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57800" y="18105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blood values entered in browser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13969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20665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receives POST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57800" y="23408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request.form collects field values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67004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7800" y="2596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numpy array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57800" y="28712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np.array([[age, wbc, rbc, plt, hb, bmi]])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32004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7800" y="3127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input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57800" y="34015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scaler.transform() normalizes values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373075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730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5780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57800" y="39319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Positive, 1 = Negative (inverted)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426110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4261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57800" y="4187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57800" y="446227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render_template with result string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Results &amp;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399032"/>
            <a:ext cx="3383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standard blood test parameters (WBC, RBC, Platelets, Hemoglobin, BMI, Age) are sufficient for a robust ML screening model.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20624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59552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Works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59552" y="1399032"/>
            <a:ext cx="3383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the dataset with SMOTE eliminated bias toward the majority class. F1-score for positive cases improved dramatically.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20624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🌲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Power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724912"/>
            <a:ext cx="3383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100-tree ensemble provides stability, handles noisy blood data well, and gives interpretable feature importance scores.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20624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860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59552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9552" y="2724912"/>
            <a:ext cx="3383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fitted only on training data. Model evaluated on a held-out 20% test set — results are trustworthy and reproducible.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20624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78992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050792"/>
            <a:ext cx="3383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served as a real-time web app — doctors or patients can enter values and get instant risk assessment.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20624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59552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~94%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59552" y="4050792"/>
            <a:ext cx="3383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 and F1 all above 90%. WBC count is the single most important clinical feature by far.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Leukemia Risk Detector — AI Lab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56032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6974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</a:t>
            </a:r>
            <a:pPr indent="0" marL="0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scikit-learn · SMOTE · Random Forest · Pandas · NumPy · Joblib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Concepts: </a:t>
            </a:r>
            <a:pPr indent="0" marL="0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Class Imbalance · Feature Scaling · Ensemble Learning · Model Deployment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406908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using Machine Learning for Healthcare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Leukemia Risk Detection - AI Project</dc:title>
  <dc:subject>PptxGenJS Presentation</dc:subject>
  <dc:creator>PptxGenJS</dc:creator>
  <cp:lastModifiedBy>PptxGenJS</cp:lastModifiedBy>
  <cp:revision>1</cp:revision>
  <dcterms:created xsi:type="dcterms:W3CDTF">2026-04-27T20:07:24Z</dcterms:created>
  <dcterms:modified xsi:type="dcterms:W3CDTF">2026-04-27T20:07:24Z</dcterms:modified>
</cp:coreProperties>
</file>